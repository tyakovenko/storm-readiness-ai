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8720" y="2788920"/>
            <a:ext cx="64008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Storm Readiness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657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ACCDD"/>
                </a:solidFill>
              </a:rPr>
              <a:t>AI-powered storm preparedness &amp; response intelligence — from a forecast to a staged, reviewed resource plan.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5943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ACCDD"/>
                </a:solidFill>
              </a:rPr>
              <a:t>Team of 4  ·  Hackathon submission  ·  Build freeze Oct 5  ·  Submit Oct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AACCDD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Forecasts say where the storm goes — not what it costs your county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6A8A"/>
                </a:solidFill>
              </a:rPr>
              <a:t>Emergency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55648"/>
            <a:ext cx="3200400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0" sz="1200">
                <a:solidFill>
                  <a:srgbClr val="1A1A2E"/>
                </a:solidFill>
              </a:rPr>
              <a:t>●  Own staging decisions</a:t>
            </a:r>
          </a:p>
          <a:p>
            <a:pPr>
              <a:spcAft>
                <a:spcPts val="800"/>
              </a:spcAft>
            </a:pPr>
            <a:r>
              <a:rPr b="0" sz="1200">
                <a:solidFill>
                  <a:srgbClr val="1A1A2E"/>
                </a:solidFill>
              </a:rPr>
              <a:t>●  Get the full plan, scenario spread, what-if answers</a:t>
            </a:r>
          </a:p>
          <a:p>
            <a:pPr>
              <a:spcAft>
                <a:spcPts val="800"/>
              </a:spcAft>
            </a:pPr>
            <a:r>
              <a:rPr b="0" sz="1200">
                <a:solidFill>
                  <a:srgbClr val="1A1A2E"/>
                </a:solidFill>
              </a:rPr>
              <a:t>●  Approve, reject or edit every 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1887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6A8A"/>
                </a:solidFill>
              </a:rPr>
              <a:t>Organizations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755648"/>
            <a:ext cx="3200400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0" sz="1200">
                <a:solidFill>
                  <a:srgbClr val="1A1A2E"/>
                </a:solidFill>
              </a:rPr>
              <a:t>●  Food banks, school districts, utility partners</a:t>
            </a:r>
          </a:p>
          <a:p>
            <a:pPr>
              <a:spcAft>
                <a:spcPts val="800"/>
              </a:spcAft>
            </a:pPr>
            <a:r>
              <a:rPr b="0" sz="1200">
                <a:solidFill>
                  <a:srgbClr val="1A1A2E"/>
                </a:solidFill>
              </a:rPr>
              <a:t>●  Get resource needs relevant to them</a:t>
            </a:r>
          </a:p>
          <a:p>
            <a:pPr>
              <a:spcAft>
                <a:spcPts val="800"/>
              </a:spcAft>
            </a:pPr>
            <a:r>
              <a:rPr b="0" sz="1200">
                <a:solidFill>
                  <a:srgbClr val="1A1A2E"/>
                </a:solidFill>
              </a:rPr>
              <a:t>●  See their facilities at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18872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6A8A"/>
                </a:solidFill>
              </a:rPr>
              <a:t>Residents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755648"/>
            <a:ext cx="3566160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0" sz="1200">
                <a:solidFill>
                  <a:srgbClr val="1A1A2E"/>
                </a:solidFill>
              </a:rPr>
              <a:t>●  Plain-language, location-specific alerts</a:t>
            </a:r>
          </a:p>
          <a:p>
            <a:pPr>
              <a:spcAft>
                <a:spcPts val="800"/>
              </a:spcAft>
            </a:pPr>
            <a:r>
              <a:rPr b="0" sz="1200">
                <a:solidFill>
                  <a:srgbClr val="1A1A2E"/>
                </a:solidFill>
              </a:rPr>
              <a:t>●  Generated from the approved plan</a:t>
            </a:r>
          </a:p>
          <a:p>
            <a:pPr>
              <a:spcAft>
                <a:spcPts val="800"/>
              </a:spcAft>
            </a:pPr>
            <a:r>
              <a:rPr b="0" sz="1200">
                <a:solidFill>
                  <a:srgbClr val="1A1A2E"/>
                </a:solidFill>
              </a:rPr>
              <a:t>●  Available in Spanish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77639" y="1188720"/>
            <a:ext cx="18288" cy="411480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09560" y="1188720"/>
            <a:ext cx="18288" cy="411480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5394960"/>
            <a:ext cx="11430000" cy="777240"/>
          </a:xfrm>
          <a:prstGeom prst="rect">
            <a:avLst/>
          </a:prstGeom>
          <a:solidFill>
            <a:srgbClr val="E0F7FD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4406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Large operators run 24/7 ops centers linking forecast to logistics. Most counties and nonprofits don't.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44652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88899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pipeline mirrors the sponsor's own seven-stage design, stage for stage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286000"/>
            <a:ext cx="960120" cy="9601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54833"/>
            <a:ext cx="960120" cy="422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19" y="3383279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Detect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2738628"/>
            <a:ext cx="758952" cy="54864"/>
          </a:xfrm>
          <a:prstGeom prst="rect">
            <a:avLst/>
          </a:prstGeom>
          <a:solidFill>
            <a:srgbClr val="46B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176272" y="2286000"/>
            <a:ext cx="960120" cy="960120"/>
          </a:xfrm>
          <a:prstGeom prst="ellipse">
            <a:avLst/>
          </a:prstGeom>
          <a:solidFill>
            <a:srgbClr val="00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76272" y="2554833"/>
            <a:ext cx="960120" cy="422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9091" y="3383279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Forecast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36391" y="2738628"/>
            <a:ext cx="758952" cy="54864"/>
          </a:xfrm>
          <a:prstGeom prst="rect">
            <a:avLst/>
          </a:prstGeom>
          <a:solidFill>
            <a:srgbClr val="46B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895344" y="2286000"/>
            <a:ext cx="960120" cy="9601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95344" y="2554833"/>
            <a:ext cx="960120" cy="422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8164" y="3383279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Impact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55464" y="2738628"/>
            <a:ext cx="758952" cy="54864"/>
          </a:xfrm>
          <a:prstGeom prst="rect">
            <a:avLst/>
          </a:prstGeom>
          <a:solidFill>
            <a:srgbClr val="46B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14416" y="2286000"/>
            <a:ext cx="960120" cy="960120"/>
          </a:xfrm>
          <a:prstGeom prst="ellipse">
            <a:avLst/>
          </a:prstGeom>
          <a:solidFill>
            <a:srgbClr val="00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14416" y="2554833"/>
            <a:ext cx="960120" cy="422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7236" y="3383279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Risk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74536" y="2738628"/>
            <a:ext cx="758952" cy="54864"/>
          </a:xfrm>
          <a:prstGeom prst="rect">
            <a:avLst/>
          </a:prstGeom>
          <a:solidFill>
            <a:srgbClr val="46B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33488" y="2286000"/>
            <a:ext cx="960120" cy="9601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33488" y="2554833"/>
            <a:ext cx="960120" cy="422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36308" y="3383279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Resources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93608" y="2738628"/>
            <a:ext cx="758952" cy="54864"/>
          </a:xfrm>
          <a:prstGeom prst="rect">
            <a:avLst/>
          </a:prstGeom>
          <a:solidFill>
            <a:srgbClr val="46B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52559" y="2286000"/>
            <a:ext cx="960120" cy="960120"/>
          </a:xfrm>
          <a:prstGeom prst="ellipse">
            <a:avLst/>
          </a:prstGeom>
          <a:solidFill>
            <a:srgbClr val="00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59" y="2554833"/>
            <a:ext cx="960120" cy="422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5380" y="3383279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Actions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12680" y="2738628"/>
            <a:ext cx="758952" cy="54864"/>
          </a:xfrm>
          <a:prstGeom prst="rect">
            <a:avLst/>
          </a:prstGeom>
          <a:solidFill>
            <a:srgbClr val="46B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771632" y="2286000"/>
            <a:ext cx="960120" cy="9601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71632" y="2554833"/>
            <a:ext cx="960120" cy="422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74452" y="3383279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Decision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394960"/>
            <a:ext cx="11430000" cy="777240"/>
          </a:xfrm>
          <a:prstGeom prst="rect">
            <a:avLst/>
          </a:prstGeom>
          <a:solidFill>
            <a:srgbClr val="E0F7FD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4406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Every advisory re-runs all seven stages automatically — a human still approves the output.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21440" y="644652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AACCDD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All 10 MVP-required components ship — three are the ones teams skip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6A8A"/>
                </a:solidFill>
              </a:rPr>
              <a:t>Natural-language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55648"/>
            <a:ext cx="3200400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0" sz="1200">
                <a:solidFill>
                  <a:srgbClr val="1A1A2E"/>
                </a:solidFill>
              </a:rPr>
              <a:t>●  Chat panel in the web app</a:t>
            </a:r>
          </a:p>
          <a:p>
            <a:pPr>
              <a:spcAft>
                <a:spcPts val="800"/>
              </a:spcAft>
            </a:pPr>
            <a:r>
              <a:rPr b="0" sz="1200">
                <a:solidFill>
                  <a:srgbClr val="1A1A2E"/>
                </a:solidFill>
              </a:rPr>
              <a:t>●  Backed by the agent's own tool-calling loop</a:t>
            </a:r>
          </a:p>
          <a:p>
            <a:pPr>
              <a:spcAft>
                <a:spcPts val="800"/>
              </a:spcAft>
            </a:pPr>
            <a:r>
              <a:rPr b="0" sz="1200">
                <a:solidFill>
                  <a:srgbClr val="1A1A2E"/>
                </a:solidFill>
              </a:rPr>
              <a:t>●  Not a separate, unverified free-text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1887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6A8A"/>
                </a:solidFill>
              </a:rPr>
              <a:t>Why an area is high-risk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755648"/>
            <a:ext cx="3200400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0" sz="1200">
                <a:solidFill>
                  <a:srgbClr val="1A1A2E"/>
                </a:solidFill>
              </a:rPr>
              <a:t>●  Impact model's feature importance</a:t>
            </a:r>
          </a:p>
          <a:p>
            <a:pPr>
              <a:spcAft>
                <a:spcPts val="800"/>
              </a:spcAft>
            </a:pPr>
            <a:r>
              <a:rPr b="0" sz="1200">
                <a:solidFill>
                  <a:srgbClr val="1A1A2E"/>
                </a:solidFill>
              </a:rPr>
              <a:t>●  Shown in plain language</a:t>
            </a:r>
          </a:p>
          <a:p>
            <a:pPr>
              <a:spcAft>
                <a:spcPts val="800"/>
              </a:spcAft>
            </a:pPr>
            <a:r>
              <a:rPr b="0" sz="1200">
                <a:solidFill>
                  <a:srgbClr val="1A1A2E"/>
                </a:solidFill>
              </a:rPr>
              <a:t>●  e.g. “wind exposure and low canopy, not population”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18872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6A8A"/>
                </a:solidFill>
              </a:rPr>
              <a:t>Underlying data &amp;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755648"/>
            <a:ext cx="3566160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0" sz="1200">
                <a:solidFill>
                  <a:srgbClr val="1A1A2E"/>
                </a:solidFill>
              </a:rPr>
              <a:t>●  Every recommendation names its inputs</a:t>
            </a:r>
          </a:p>
          <a:p>
            <a:pPr>
              <a:spcAft>
                <a:spcPts val="800"/>
              </a:spcAft>
            </a:pPr>
            <a:r>
              <a:rPr b="0" sz="1200">
                <a:solidFill>
                  <a:srgbClr val="1A1A2E"/>
                </a:solidFill>
              </a:rPr>
              <a:t>●  Which advisory, model version, scenario set</a:t>
            </a:r>
          </a:p>
          <a:p>
            <a:pPr>
              <a:spcAft>
                <a:spcPts val="800"/>
              </a:spcAft>
            </a:pPr>
            <a:r>
              <a:rPr b="0" sz="1200">
                <a:solidFill>
                  <a:srgbClr val="1A1A2E"/>
                </a:solidFill>
              </a:rPr>
              <a:t>●  Drawn from the trust layer's own check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77639" y="1188720"/>
            <a:ext cx="18288" cy="411480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09560" y="1188720"/>
            <a:ext cx="18288" cy="411480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5394960"/>
            <a:ext cx="11430000" cy="777240"/>
          </a:xfrm>
          <a:prstGeom prst="rect">
            <a:avLst/>
          </a:prstGeom>
          <a:solidFill>
            <a:srgbClr val="E0F7FD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4406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Full 10-component MVP compliance table in the appendix.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44652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88899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Each job goes to the tool that's actually good at it</a:t>
            </a:r>
          </a:p>
        </p:txBody>
      </p:sp>
      <p:sp>
        <p:nvSpPr>
          <p:cNvPr id="4" name="Oval 3"/>
          <p:cNvSpPr/>
          <p:nvPr/>
        </p:nvSpPr>
        <p:spPr>
          <a:xfrm>
            <a:off x="1157859" y="2011680"/>
            <a:ext cx="1554480" cy="15544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7859" y="240030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7859" y="36576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Scenarios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7859" y="406908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CCDD"/>
                </a:solidFill>
              </a:rPr>
              <a:t>NHC forecast-error AR(1) models</a:t>
            </a:r>
          </a:p>
        </p:txBody>
      </p:sp>
      <p:sp>
        <p:nvSpPr>
          <p:cNvPr id="8" name="Oval 7"/>
          <p:cNvSpPr/>
          <p:nvPr/>
        </p:nvSpPr>
        <p:spPr>
          <a:xfrm>
            <a:off x="3930777" y="2011680"/>
            <a:ext cx="1554480" cy="1554480"/>
          </a:xfrm>
          <a:prstGeom prst="ellipse">
            <a:avLst/>
          </a:prstGeom>
          <a:solidFill>
            <a:srgbClr val="00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0777" y="240030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0777" y="36576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Impact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0777" y="406908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CCDD"/>
                </a:solidFill>
              </a:rPr>
              <a:t>XGBoost, 10-yr EAGLE-I outages</a:t>
            </a:r>
          </a:p>
        </p:txBody>
      </p:sp>
      <p:sp>
        <p:nvSpPr>
          <p:cNvPr id="12" name="Oval 11"/>
          <p:cNvSpPr/>
          <p:nvPr/>
        </p:nvSpPr>
        <p:spPr>
          <a:xfrm>
            <a:off x="6703695" y="2011680"/>
            <a:ext cx="1554480" cy="15544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03695" y="240030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3695" y="36576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Optimizer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3695" y="406908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CCDD"/>
                </a:solidFill>
              </a:rPr>
              <a:t>2-stage stochastic (Bhattarai &amp; Song)</a:t>
            </a:r>
          </a:p>
        </p:txBody>
      </p:sp>
      <p:sp>
        <p:nvSpPr>
          <p:cNvPr id="16" name="Oval 15"/>
          <p:cNvSpPr/>
          <p:nvPr/>
        </p:nvSpPr>
        <p:spPr>
          <a:xfrm>
            <a:off x="9476613" y="2011680"/>
            <a:ext cx="1554480" cy="1554480"/>
          </a:xfrm>
          <a:prstGeom prst="ellipse">
            <a:avLst/>
          </a:prstGeom>
          <a:solidFill>
            <a:srgbClr val="00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76613" y="240030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6613" y="36576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AI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76613" y="406908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CCDD"/>
                </a:solidFill>
              </a:rPr>
              <a:t>Orchestrates, model-agnostic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58059" y="2761488"/>
            <a:ext cx="1126998" cy="54864"/>
          </a:xfrm>
          <a:prstGeom prst="rect">
            <a:avLst/>
          </a:prstGeom>
          <a:solidFill>
            <a:srgbClr val="46B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30977" y="2761488"/>
            <a:ext cx="1126998" cy="54864"/>
          </a:xfrm>
          <a:prstGeom prst="rect">
            <a:avLst/>
          </a:prstGeom>
          <a:solidFill>
            <a:srgbClr val="46B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03895" y="2761488"/>
            <a:ext cx="1126998" cy="54864"/>
          </a:xfrm>
          <a:prstGeom prst="rect">
            <a:avLst/>
          </a:prstGeom>
          <a:solidFill>
            <a:srgbClr val="46B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5394960"/>
            <a:ext cx="11430000" cy="777240"/>
          </a:xfrm>
          <a:prstGeom prst="rect">
            <a:avLst/>
          </a:prstGeom>
          <a:solidFill>
            <a:srgbClr val="E0F7FD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4406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The one failure we can't accept: an LLM inventing quantities in a life-safety setting — this design rules it out.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1440" y="644652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AACCDD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Every AI output is checked against the models before a human ever sees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11430000" cy="5029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261872"/>
            <a:ext cx="23317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90088" y="1261872"/>
            <a:ext cx="58750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7988" y="1261872"/>
            <a:ext cx="26746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On failure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91640"/>
            <a:ext cx="11430000" cy="7772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764792"/>
            <a:ext cx="2313432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Numbers match the 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0088" y="1764792"/>
            <a:ext cx="5856732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Deterministic: every quantity must match a tool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47988" y="1764792"/>
            <a:ext cx="2656332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Blocked and regenerated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468880"/>
            <a:ext cx="11430000" cy="77724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2542032"/>
            <a:ext cx="2313432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Confidence fits lead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0088" y="2542032"/>
            <a:ext cx="5856732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Rules tied to forecast lead time and scenario spread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47988" y="2542032"/>
            <a:ext cx="2656332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Rewritten with uncertainty stated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246120"/>
            <a:ext cx="11430000" cy="7772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3319272"/>
            <a:ext cx="2313432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Required steps followed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0088" y="3319272"/>
            <a:ext cx="5856732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Checks the agent's tool-call sequence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7988" y="3319272"/>
            <a:ext cx="2656332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Blocked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023360"/>
            <a:ext cx="11430000" cy="77724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4096512"/>
            <a:ext cx="2313432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Actionable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90088" y="4096512"/>
            <a:ext cx="5856732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LLM-as-judge, validated against human labels first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47988" y="4096512"/>
            <a:ext cx="2656332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Flagged for reviewer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394960"/>
            <a:ext cx="11430000" cy="777240"/>
          </a:xfrm>
          <a:prstGeom prst="rect">
            <a:avLst/>
          </a:prstGeom>
          <a:solidFill>
            <a:srgbClr val="E0F7FD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4406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This is the differentiator — not a bolt-on safety check, but the layer between the model and the decision-maker.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44652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88899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Runs end-to-end on GCP's serverless tier — no BigQuery required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394960" cy="685800"/>
          </a:xfrm>
          <a:prstGeom prst="rect">
            <a:avLst/>
          </a:prstGeom>
          <a:solidFill>
            <a:srgbClr val="00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43584"/>
            <a:ext cx="51206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Public data
(NHC, EAGLE-I, Census, facilities)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3035808" y="1874520"/>
            <a:ext cx="54864" cy="320040"/>
          </a:xfrm>
          <a:prstGeom prst="rect">
            <a:avLst/>
          </a:prstGeom>
          <a:solidFill>
            <a:srgbClr val="00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194560"/>
            <a:ext cx="5394960" cy="685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249424"/>
            <a:ext cx="51206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Scenarios + Impact model + Optimizer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035808" y="2880360"/>
            <a:ext cx="54864" cy="320040"/>
          </a:xfrm>
          <a:prstGeom prst="rect">
            <a:avLst/>
          </a:prstGeom>
          <a:solidFill>
            <a:srgbClr val="00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3200400"/>
            <a:ext cx="5394960" cy="685800"/>
          </a:xfrm>
          <a:prstGeom prst="rect">
            <a:avLst/>
          </a:prstGeom>
          <a:solidFill>
            <a:srgbClr val="00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255264"/>
            <a:ext cx="51206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AI agent + Trust layer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35808" y="3886200"/>
            <a:ext cx="54864" cy="320040"/>
          </a:xfrm>
          <a:prstGeom prst="rect">
            <a:avLst/>
          </a:prstGeom>
          <a:solidFill>
            <a:srgbClr val="00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4206240"/>
            <a:ext cx="5394960" cy="685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261104"/>
            <a:ext cx="51206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Web app + review log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28016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300">
                <a:solidFill>
                  <a:srgbClr val="1A1A2E"/>
                </a:solidFill>
              </a:rPr>
              <a:t>●  Storage &amp; processing</a:t>
            </a:r>
            <a:r>
              <a:rPr b="0" sz="1300">
                <a:solidFill>
                  <a:srgbClr val="1A1A2E"/>
                </a:solidFill>
              </a:rPr>
              <a:t> — Cloud Storage (Parquet), DuckDB, GeoPandas — no BigQuery needed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1A1A2E"/>
                </a:solidFill>
              </a:rPr>
              <a:t>●  Serving</a:t>
            </a:r>
            <a:r>
              <a:rPr b="0" sz="1300">
                <a:solidFill>
                  <a:srgbClr val="1A1A2E"/>
                </a:solidFill>
              </a:rPr>
              <a:t> — Cloud Run (API + web app), Cloud Scheduler every 6h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1A1A2E"/>
                </a:solidFill>
              </a:rPr>
              <a:t>●  State</a:t>
            </a:r>
            <a:r>
              <a:rPr b="0" sz="1300">
                <a:solidFill>
                  <a:srgbClr val="1A1A2E"/>
                </a:solidFill>
              </a:rPr>
              <a:t> — Firestore review log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1A1A2E"/>
                </a:solidFill>
              </a:rPr>
              <a:t>●  LLM (swappable)</a:t>
            </a:r>
            <a:r>
              <a:rPr b="0" sz="1300">
                <a:solidFill>
                  <a:srgbClr val="1A1A2E"/>
                </a:solidFill>
              </a:rPr>
              <a:t> — Vertex AI Gemini/Claude, or self-hosted Gemma — model-agnostic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394960"/>
            <a:ext cx="11430000" cy="777240"/>
          </a:xfrm>
          <a:prstGeom prst="rect">
            <a:avLst/>
          </a:prstGeom>
          <a:solidFill>
            <a:srgbClr val="E0F7FD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4406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The LLM is a config setting, not an architecture decision.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0" y="644652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88899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Every data source is public, grouped into three categories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6A8A"/>
                </a:solidFill>
              </a:rPr>
              <a:t>Hazard &amp; forecast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55648"/>
            <a:ext cx="3200400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0" sz="1200">
                <a:solidFill>
                  <a:srgbClr val="1A1A2E"/>
                </a:solidFill>
              </a:rPr>
              <a:t>●  NHC advisories + GIS (every 6h)</a:t>
            </a:r>
          </a:p>
          <a:p>
            <a:pPr>
              <a:spcAft>
                <a:spcPts val="800"/>
              </a:spcAft>
            </a:pPr>
            <a:r>
              <a:rPr b="0" sz="1200">
                <a:solidFill>
                  <a:srgbClr val="1A1A2E"/>
                </a:solidFill>
              </a:rPr>
              <a:t>●  NHC forecast-error verification stats</a:t>
            </a:r>
          </a:p>
          <a:p>
            <a:pPr>
              <a:spcAft>
                <a:spcPts val="800"/>
              </a:spcAft>
            </a:pPr>
            <a:r>
              <a:rPr b="0" sz="1200">
                <a:solidFill>
                  <a:srgbClr val="1A1A2E"/>
                </a:solidFill>
              </a:rPr>
              <a:t>●  HURDAT2 best tracks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1887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6A8A"/>
                </a:solidFill>
              </a:rPr>
              <a:t>Impact &amp; vulnerability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755648"/>
            <a:ext cx="3200400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0" sz="1200">
                <a:solidFill>
                  <a:srgbClr val="1A1A2E"/>
                </a:solidFill>
              </a:rPr>
              <a:t>●  EAGLE-I outages, 2014–2024 (ORNL/DOE)</a:t>
            </a:r>
          </a:p>
          <a:p>
            <a:pPr>
              <a:spcAft>
                <a:spcPts val="800"/>
              </a:spcAft>
            </a:pPr>
            <a:r>
              <a:rPr b="0" sz="1200">
                <a:solidFill>
                  <a:srgbClr val="1A1A2E"/>
                </a:solidFill>
              </a:rPr>
              <a:t>●  US Census / ACS</a:t>
            </a:r>
          </a:p>
          <a:p>
            <a:pPr>
              <a:spcAft>
                <a:spcPts val="800"/>
              </a:spcAft>
            </a:pPr>
            <a:r>
              <a:rPr b="0" sz="1200">
                <a:solidFill>
                  <a:srgbClr val="1A1A2E"/>
                </a:solidFill>
              </a:rPr>
              <a:t>●  CDC SVI + FEMA National Risk Index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18872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6A8A"/>
                </a:solidFill>
              </a:rPr>
              <a:t>Assets, guidance &amp; phase-2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755648"/>
            <a:ext cx="3566160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0" sz="1200">
                <a:solidFill>
                  <a:srgbClr val="1A1A2E"/>
                </a:solidFill>
              </a:rPr>
              <a:t>●  HIFLD/OSM facilities, FEMA distribution centers</a:t>
            </a:r>
          </a:p>
          <a:p>
            <a:pPr>
              <a:spcAft>
                <a:spcPts val="800"/>
              </a:spcAft>
            </a:pPr>
            <a:r>
              <a:rPr b="0" sz="1200">
                <a:solidFill>
                  <a:srgbClr val="1A1A2E"/>
                </a:solidFill>
              </a:rPr>
              <a:t>●  FEMA / Ready.gov guidance</a:t>
            </a:r>
          </a:p>
          <a:p>
            <a:pPr>
              <a:spcAft>
                <a:spcPts val="800"/>
              </a:spcAft>
            </a:pPr>
            <a:r>
              <a:rPr b="0" sz="1200">
                <a:solidFill>
                  <a:srgbClr val="1A1A2E"/>
                </a:solidFill>
              </a:rPr>
              <a:t>●  Phase-2: NFHL, Overture roads, HIFLD grid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77639" y="1188720"/>
            <a:ext cx="18288" cy="411480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09560" y="1188720"/>
            <a:ext cx="18288" cy="411480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5394960"/>
            <a:ext cx="11430000" cy="777240"/>
          </a:xfrm>
          <a:prstGeom prst="rect">
            <a:avLst/>
          </a:prstGeom>
          <a:solidFill>
            <a:srgbClr val="E0F7FD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4406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All public data — access confirmed before we depend on any source.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44652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88899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Backtested leave-one-storm-out against ten years of real storms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11430000" cy="5029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261872"/>
            <a:ext cx="32461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04488" y="1261872"/>
            <a:ext cx="46177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05088" y="1261872"/>
            <a:ext cx="30175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Baseline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91640"/>
            <a:ext cx="11430000" cy="7772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764792"/>
            <a:ext cx="3227832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Does the impact model predict outages?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04488" y="1764792"/>
            <a:ext cx="4599432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MAE on peak % out; hardest-hit county recall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05088" y="1764792"/>
            <a:ext cx="2999232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Wind-threshold rule; NRI-only model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468880"/>
            <a:ext cx="11430000" cy="77724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2542032"/>
            <a:ext cx="3227832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Does staging reduce unmet demand?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04488" y="2542032"/>
            <a:ext cx="4599432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Unmet demand &amp; cost under actual outages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05088" y="2542032"/>
            <a:ext cx="2999232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Single-track plan; paper's shelter-only plan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246120"/>
            <a:ext cx="11430000" cy="7772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3319272"/>
            <a:ext cx="3227832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Are the scenarios well calibrated?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04488" y="3319272"/>
            <a:ext cx="4599432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Share of actual positions inside scenario spread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05088" y="3319272"/>
            <a:ext cx="2999232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n/a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023360"/>
            <a:ext cx="11430000" cy="77724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4096512"/>
            <a:ext cx="3227832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Can the agent's outputs be trusted?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04488" y="4096512"/>
            <a:ext cx="4599432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Mismatch rate, block rate, human approve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05088" y="4096512"/>
            <a:ext cx="2999232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No trust layer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394960"/>
            <a:ext cx="11430000" cy="777240"/>
          </a:xfrm>
          <a:prstGeom prst="rect">
            <a:avLst/>
          </a:prstGeom>
          <a:solidFill>
            <a:srgbClr val="E0F7FD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4406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Candidate storms: Florence 2018 (reproduction), Ian 2022, Helene 2024, Milton 2024.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44652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88899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Multi-hazard is scoped and data-ready — deliberately not built for the 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b="0" sz="1600">
                <a:solidFill>
                  <a:srgbClr val="1A1A2E"/>
                </a:solidFill>
              </a:rPr>
              <a:t>●  One tested model beats three untested ones by Oct 5</a:t>
            </a:r>
          </a:p>
          <a:p>
            <a:pPr>
              <a:spcAft>
                <a:spcPts val="1600"/>
              </a:spcAft>
            </a:pPr>
            <a:r>
              <a:rPr b="0" sz="1600">
                <a:solidFill>
                  <a:srgbClr val="1A1A2E"/>
                </a:solidFill>
              </a:rPr>
              <a:t>●  Flood, road, transit are the sponsor's own phase-2 examples — data already scoped</a:t>
            </a:r>
          </a:p>
          <a:p>
            <a:pPr>
              <a:spcAft>
                <a:spcPts val="1600"/>
              </a:spcAft>
            </a:pPr>
            <a:r>
              <a:rPr b="0" sz="1600">
                <a:solidFill>
                  <a:srgbClr val="1A1A2E"/>
                </a:solidFill>
              </a:rPr>
              <a:t>●  Next model after MVP: road/transit/flood predictor, same backtest discipline</a:t>
            </a:r>
          </a:p>
          <a:p>
            <a:pPr>
              <a:spcAft>
                <a:spcPts val="1600"/>
              </a:spcAft>
            </a:pPr>
            <a:r>
              <a:rPr b="0" sz="1600">
                <a:solidFill>
                  <a:srgbClr val="1A1A2E"/>
                </a:solidFill>
              </a:rPr>
              <a:t>●  Meets the predictive-capability bar now; credible path to the fuller 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394960"/>
            <a:ext cx="11430000" cy="777240"/>
          </a:xfrm>
          <a:prstGeom prst="rect">
            <a:avLst/>
          </a:prstGeom>
          <a:solidFill>
            <a:srgbClr val="E0F7FD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406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Deferred by design, not by gap — §11.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4652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88899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Designed to keep running every hurricane season at near-zero idle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b="0" sz="1600">
                <a:solidFill>
                  <a:srgbClr val="1A1A2E"/>
                </a:solidFill>
              </a:rPr>
              <a:t>●  Idle between storms — Cloud Scheduler polls NHC every 6h, services scale to zero</a:t>
            </a:r>
          </a:p>
          <a:p>
            <a:pPr>
              <a:spcAft>
                <a:spcPts val="1600"/>
              </a:spcAft>
            </a:pPr>
            <a:r>
              <a:rPr b="0" sz="1600">
                <a:solidFill>
                  <a:srgbClr val="1A1A2E"/>
                </a:solidFill>
              </a:rPr>
              <a:t>●  Auto-activates when a storm threatens US land</a:t>
            </a:r>
          </a:p>
          <a:p>
            <a:pPr>
              <a:spcAft>
                <a:spcPts val="1600"/>
              </a:spcAft>
            </a:pPr>
            <a:r>
              <a:rPr b="0" sz="1600">
                <a:solidFill>
                  <a:srgbClr val="1A1A2E"/>
                </a:solidFill>
              </a:rPr>
              <a:t>●  Public post-storm scorecard — predicted vs. actual outages, published every storm</a:t>
            </a:r>
          </a:p>
          <a:p>
            <a:pPr>
              <a:spcAft>
                <a:spcPts val="1600"/>
              </a:spcAft>
            </a:pPr>
            <a:r>
              <a:rPr b="0" sz="1600">
                <a:solidFill>
                  <a:srgbClr val="1A1A2E"/>
                </a:solidFill>
              </a:rPr>
              <a:t>●  Pilot partner sought for the 2027 season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394960"/>
            <a:ext cx="11430000" cy="777240"/>
          </a:xfrm>
          <a:prstGeom prst="rect">
            <a:avLst/>
          </a:prstGeom>
          <a:solidFill>
            <a:srgbClr val="E0F7FD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406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Continuously re-tested against real events, not just at launch.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4652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88899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Four workstreams run in parallel toward an Oct 5 build freeze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6A8A"/>
                </a:solidFill>
              </a:rPr>
              <a:t>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45920"/>
            <a:ext cx="5394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1200">
                <a:solidFill>
                  <a:srgbClr val="1A1A2E"/>
                </a:solidFill>
              </a:rPr>
              <a:t>●  Sep 24–29 — architecture, data pipeline, scenario generator, baseline model</a:t>
            </a:r>
          </a:p>
          <a:p>
            <a:pPr>
              <a:spcAft>
                <a:spcPts val="1000"/>
              </a:spcAft>
            </a:pPr>
            <a:r>
              <a:rPr b="0" sz="1200">
                <a:solidFill>
                  <a:srgbClr val="1A1A2E"/>
                </a:solidFill>
              </a:rPr>
              <a:t>●  Sep 30–Oct 2 — backtest, optimizer, trust layer wired to real tools</a:t>
            </a:r>
          </a:p>
          <a:p>
            <a:pPr>
              <a:spcAft>
                <a:spcPts val="1000"/>
              </a:spcAft>
            </a:pPr>
            <a:r>
              <a:rPr b="0" sz="1200">
                <a:solidFill>
                  <a:srgbClr val="1A1A2E"/>
                </a:solidFill>
              </a:rPr>
              <a:t>●  Oct 3–5 — end-to-end replay, accessibility pass, build freeze</a:t>
            </a:r>
          </a:p>
          <a:p>
            <a:pPr>
              <a:spcAft>
                <a:spcPts val="1000"/>
              </a:spcAft>
            </a:pPr>
            <a:r>
              <a:rPr b="0" sz="1200">
                <a:solidFill>
                  <a:srgbClr val="1A1A2E"/>
                </a:solidFill>
              </a:rPr>
              <a:t>●  Oct 5–9 — demo video, submit by Oct 9, 9:00 PM 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6A8A"/>
                </a:solidFill>
              </a:rPr>
              <a:t>Workstreams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394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200">
                <a:solidFill>
                  <a:srgbClr val="1A1A2E"/>
                </a:solidFill>
              </a:rPr>
              <a:t>●  A — Data &amp; impact model</a:t>
            </a:r>
            <a:r>
              <a:rPr b="0" sz="1200">
                <a:solidFill>
                  <a:srgbClr val="1A1A2E"/>
                </a:solidFill>
              </a:rPr>
              <a:t> — Ingestion, features, XGBoost training, backtest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A1A2E"/>
                </a:solidFill>
              </a:rPr>
              <a:t>●  B — Scenarios &amp; optimization</a:t>
            </a:r>
            <a:r>
              <a:rPr b="0" sz="1200">
                <a:solidFill>
                  <a:srgbClr val="1A1A2E"/>
                </a:solidFill>
              </a:rPr>
              <a:t> — Forecast-error scenarios, Pyomo model, Florence reproduction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A1A2E"/>
                </a:solidFill>
              </a:rPr>
              <a:t>●  C — Agent &amp; trust layer</a:t>
            </a:r>
            <a:r>
              <a:rPr b="0" sz="1200">
                <a:solidFill>
                  <a:srgbClr val="1A1A2E"/>
                </a:solidFill>
              </a:rPr>
              <a:t> — Tool definitions, agent loop, trust checks, judge validation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A1A2E"/>
                </a:solidFill>
              </a:rPr>
              <a:t>●  D — App, accessibility &amp; demo</a:t>
            </a:r>
            <a:r>
              <a:rPr b="0" sz="1200">
                <a:solidFill>
                  <a:srgbClr val="1A1A2E"/>
                </a:solidFill>
              </a:rPr>
              <a:t> — Three user views, map, NL chat, review flow, video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188720"/>
            <a:ext cx="18288" cy="411480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5394960"/>
            <a:ext cx="11430000" cy="777240"/>
          </a:xfrm>
          <a:prstGeom prst="rect">
            <a:avLst/>
          </a:prstGeom>
          <a:solidFill>
            <a:srgbClr val="E0F7FD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4406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Build freeze Oct 5. Submit early — deadline Oct 9, 9:00 PM PT.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44652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88899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Four sponsor decisions would materially change what we can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b="1" sz="1500">
                <a:solidFill>
                  <a:srgbClr val="1A1A2E"/>
                </a:solidFill>
              </a:rPr>
              <a:t>●  Proprietary models</a:t>
            </a:r>
            <a:r>
              <a:rPr b="0" sz="1500">
                <a:solidFill>
                  <a:srgbClr val="1A1A2E"/>
                </a:solidFill>
              </a:rPr>
              <a:t> — Gemini/Claude on Vertex AI — is per-token billing covered by the budget?</a:t>
            </a:r>
          </a:p>
          <a:p>
            <a:pPr>
              <a:spcAft>
                <a:spcPts val="1600"/>
              </a:spcAft>
            </a:pPr>
            <a:r>
              <a:rPr b="1" sz="1500">
                <a:solidFill>
                  <a:srgbClr val="1A1A2E"/>
                </a:solidFill>
              </a:rPr>
              <a:t>●  GPU quota</a:t>
            </a:r>
            <a:r>
              <a:rPr b="0" sz="1500">
                <a:solidFill>
                  <a:srgbClr val="1A1A2E"/>
                </a:solidFill>
              </a:rPr>
              <a:t> — ≥ 1 NVIDIA L4 for the open-weights path — who requests it?</a:t>
            </a:r>
          </a:p>
          <a:p>
            <a:pPr>
              <a:spcAft>
                <a:spcPts val="1600"/>
              </a:spcAft>
            </a:pPr>
            <a:r>
              <a:rPr b="1" sz="1500">
                <a:solidFill>
                  <a:srgbClr val="1A1A2E"/>
                </a:solidFill>
              </a:rPr>
              <a:t>●  BigQuery</a:t>
            </a:r>
            <a:r>
              <a:rPr b="0" sz="1500">
                <a:solidFill>
                  <a:srgbClr val="1A1A2E"/>
                </a:solidFill>
              </a:rPr>
              <a:t> — Disabled, or just unbudgeted? Our design doesn't require it.</a:t>
            </a:r>
          </a:p>
          <a:p>
            <a:pPr>
              <a:spcAft>
                <a:spcPts val="1600"/>
              </a:spcAft>
            </a:pPr>
            <a:r>
              <a:rPr b="1" sz="1500">
                <a:solidFill>
                  <a:srgbClr val="1A1A2E"/>
                </a:solidFill>
              </a:rPr>
              <a:t>●  Post-hackathon hosting</a:t>
            </a:r>
            <a:r>
              <a:rPr b="0" sz="1500">
                <a:solidFill>
                  <a:srgbClr val="1A1A2E"/>
                </a:solidFill>
              </a:rPr>
              <a:t> — Whose GCP project runs it after Oct 16?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394960"/>
            <a:ext cx="11430000" cy="777240"/>
          </a:xfrm>
          <a:prstGeom prst="rect">
            <a:avLst/>
          </a:prstGeom>
          <a:solidFill>
            <a:srgbClr val="E0F7FD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406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Model-agnostic either way — these answers shape scope, not feasibility.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4652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88899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01752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21440" y="644652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AACCDD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A2E"/>
                </a:solidFill>
              </a:rPr>
              <a:t>Full MVP compliance: all 10 required components, mapped to spec section</a:t>
            </a:r>
          </a:p>
        </p:txBody>
      </p:sp>
      <p:pic>
        <p:nvPicPr>
          <p:cNvPr id="3" name="Picture 2" descr="mvp_compl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11155680" cy="4921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355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99"/>
                </a:solidFill>
              </a:rPr>
              <a:t>Source: proposal.md §2.1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88899"/>
                </a:solidFill>
              </a:rPr>
              <a:t>A1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